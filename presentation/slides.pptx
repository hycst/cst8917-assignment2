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7899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200" b="1">
                <a:solidFill>
                  <a:srgbClr val="FFFFFF"/>
                </a:solidFill>
              </a:defRPr>
            </a:pPr>
            <a:r>
              <a:t>Compare &amp; Contrast</a:t>
            </a:r>
          </a:p>
          <a:p>
            <a:pPr>
              <a:defRPr sz="3000">
                <a:solidFill>
                  <a:srgbClr val="FFFFFF"/>
                </a:solidFill>
              </a:defRPr>
            </a:pPr>
            <a:r>
              <a:t>Dual Implementation of an Expense Approval Workflow</a:t>
            </a:r>
          </a:p>
          <a:p>
            <a:pPr>
              <a:spcBef>
                <a:spcPts val="1600"/>
              </a:spcBef>
              <a:defRPr sz="2000">
                <a:solidFill>
                  <a:srgbClr val="D2E1F5"/>
                </a:solidFill>
              </a:defRPr>
            </a:pPr>
            <a:r>
              <a:t>Azure Durable Functions vs. Azure Logic Apps + Service Bus</a:t>
            </a:r>
          </a:p>
          <a:p>
            <a:pPr>
              <a:spcBef>
                <a:spcPts val="2800"/>
              </a:spcBef>
              <a:defRPr sz="1700">
                <a:solidFill>
                  <a:srgbClr val="FFFFFF"/>
                </a:solidFill>
              </a:defRPr>
            </a:pPr>
            <a:r>
              <a:t>CST8917 – Serverless Applications | Assignment 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1. Workflow &amp; Business Rules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6464"/>
                </a:solidFill>
              </a:defRPr>
            </a:pPr>
            <a:r>
              <a:t>The same business process is implemented twice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25880"/>
            <a:ext cx="3337560" cy="1508760"/>
          </a:xfrm>
          <a:prstGeom prst="roundRect">
            <a:avLst/>
          </a:prstGeom>
          <a:solidFill>
            <a:srgbClr val="EBF3FA"/>
          </a:solidFill>
          <a:ln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1" y="1435607"/>
            <a:ext cx="2921377" cy="8002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F75B5"/>
                </a:solidFill>
              </a:defRPr>
            </a:pPr>
            <a:r>
              <a:rPr dirty="0"/>
              <a:t>Input</a:t>
            </a:r>
          </a:p>
          <a:p>
            <a:pPr>
              <a:defRPr sz="1400">
                <a:solidFill>
                  <a:srgbClr val="232323"/>
                </a:solidFill>
              </a:defRPr>
            </a:pPr>
            <a:r>
              <a:rPr dirty="0"/>
              <a:t>Employee name/email, amount,</a:t>
            </a:r>
            <a:endParaRPr lang="en-CA" dirty="0"/>
          </a:p>
          <a:p>
            <a:pPr>
              <a:defRPr sz="1400">
                <a:solidFill>
                  <a:srgbClr val="232323"/>
                </a:solidFill>
              </a:defRPr>
            </a:pPr>
            <a:r>
              <a:rPr dirty="0"/>
              <a:t>category, description, manager email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34840" y="1325880"/>
            <a:ext cx="3337560" cy="1508760"/>
          </a:xfrm>
          <a:prstGeom prst="roundRect">
            <a:avLst/>
          </a:prstGeom>
          <a:solidFill>
            <a:srgbClr val="EBF3FA"/>
          </a:solidFill>
          <a:ln>
            <a:solidFill>
              <a:srgbClr val="5482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99432" y="1435607"/>
            <a:ext cx="3008376" cy="1289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548235"/>
                </a:solidFill>
              </a:defRPr>
            </a:pPr>
            <a:r>
              <a:t>Validation</a:t>
            </a:r>
          </a:p>
          <a:p>
            <a:pPr>
              <a:defRPr sz="1400">
                <a:solidFill>
                  <a:srgbClr val="232323"/>
                </a:solidFill>
              </a:defRPr>
            </a:pPr>
            <a:r>
              <a:t>Required fields + six valid categories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0" y="1325880"/>
            <a:ext cx="3337560" cy="1508760"/>
          </a:xfrm>
          <a:prstGeom prst="roundRect">
            <a:avLst/>
          </a:prstGeom>
          <a:solidFill>
            <a:srgbClr val="EBF3FA"/>
          </a:solidFill>
          <a:ln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394192" y="1435607"/>
            <a:ext cx="2014654" cy="8002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ED7D31"/>
                </a:solidFill>
              </a:defRPr>
            </a:pPr>
            <a:r>
              <a:rPr dirty="0"/>
              <a:t>Under $100</a:t>
            </a:r>
          </a:p>
          <a:p>
            <a:pPr>
              <a:defRPr sz="1400">
                <a:solidFill>
                  <a:srgbClr val="232323"/>
                </a:solidFill>
              </a:defRPr>
            </a:pPr>
            <a:r>
              <a:rPr dirty="0"/>
              <a:t>Automatically approved; </a:t>
            </a:r>
            <a:endParaRPr lang="en-CA" dirty="0"/>
          </a:p>
          <a:p>
            <a:pPr>
              <a:defRPr sz="1400">
                <a:solidFill>
                  <a:srgbClr val="232323"/>
                </a:solidFill>
              </a:defRPr>
            </a:pPr>
            <a:r>
              <a:rPr dirty="0"/>
              <a:t>no manager interaction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291839"/>
            <a:ext cx="3337560" cy="1508760"/>
          </a:xfrm>
          <a:prstGeom prst="roundRect">
            <a:avLst/>
          </a:prstGeom>
          <a:solidFill>
            <a:srgbClr val="EBF3FA"/>
          </a:solidFill>
          <a:ln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04671" y="3401568"/>
            <a:ext cx="3008376" cy="1289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F75B5"/>
                </a:solidFill>
              </a:defRPr>
            </a:pPr>
            <a:r>
              <a:t>$100 or more</a:t>
            </a:r>
          </a:p>
          <a:p>
            <a:pPr>
              <a:defRPr sz="1400">
                <a:solidFill>
                  <a:srgbClr val="232323"/>
                </a:solidFill>
              </a:defRPr>
            </a:pPr>
            <a:r>
              <a:t>Wait for manager Approve / Reject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3291839"/>
            <a:ext cx="3337560" cy="1508760"/>
          </a:xfrm>
          <a:prstGeom prst="roundRect">
            <a:avLst/>
          </a:prstGeom>
          <a:solidFill>
            <a:srgbClr val="EBF3FA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99432" y="3401568"/>
            <a:ext cx="3008376" cy="1289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C00000"/>
                </a:solidFill>
              </a:defRPr>
            </a:pPr>
            <a:r>
              <a:t>Timeout</a:t>
            </a:r>
          </a:p>
          <a:p>
            <a:pPr>
              <a:defRPr sz="1400">
                <a:solidFill>
                  <a:srgbClr val="232323"/>
                </a:solidFill>
              </a:defRPr>
            </a:pPr>
            <a:r>
              <a:t>Auto-approve and mark Escalated = Yes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3291839"/>
            <a:ext cx="3337560" cy="1508760"/>
          </a:xfrm>
          <a:prstGeom prst="roundRect">
            <a:avLst/>
          </a:prstGeom>
          <a:solidFill>
            <a:srgbClr val="EBF3FA"/>
          </a:solidFill>
          <a:ln>
            <a:solidFill>
              <a:srgbClr val="5482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94192" y="3401568"/>
            <a:ext cx="2914901" cy="8002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548235"/>
                </a:solidFill>
              </a:defRPr>
            </a:pPr>
            <a:r>
              <a:rPr dirty="0"/>
              <a:t>Notification</a:t>
            </a:r>
          </a:p>
          <a:p>
            <a:pPr>
              <a:defRPr sz="1400">
                <a:solidFill>
                  <a:srgbClr val="232323"/>
                </a:solidFill>
              </a:defRPr>
            </a:pPr>
            <a:r>
              <a:rPr dirty="0"/>
              <a:t>Employee receives the final outcome </a:t>
            </a:r>
            <a:endParaRPr lang="en-CA" dirty="0"/>
          </a:p>
          <a:p>
            <a:pPr>
              <a:defRPr sz="1400">
                <a:solidFill>
                  <a:srgbClr val="232323"/>
                </a:solidFill>
              </a:defRPr>
            </a:pPr>
            <a:r>
              <a:rPr dirty="0"/>
              <a:t>by email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1338560" y="6629400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2. Version A — Azure Durable Functions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6464"/>
                </a:solidFill>
              </a:defRPr>
            </a:pPr>
            <a:r>
              <a:t>Code-first orchestration using the Python v2 programming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34440"/>
            <a:ext cx="47548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32323"/>
                </a:solidFill>
              </a:defRPr>
            </a:pPr>
            <a:r>
              <a:t>HTTP client starts a new expense orchestration.</a:t>
            </a:r>
          </a:p>
          <a:p>
            <a:pPr>
              <a:spcAft>
                <a:spcPts val="800"/>
              </a:spcAft>
              <a:defRPr sz="1800">
                <a:solidFill>
                  <a:srgbClr val="232323"/>
                </a:solidFill>
              </a:defRPr>
            </a:pPr>
            <a:r>
              <a:t>Orchestrator coordinates validation, processing and notification activities.</a:t>
            </a:r>
          </a:p>
          <a:p>
            <a:pPr>
              <a:spcAft>
                <a:spcPts val="800"/>
              </a:spcAft>
              <a:defRPr sz="1800">
                <a:solidFill>
                  <a:srgbClr val="232323"/>
                </a:solidFill>
              </a:defRPr>
            </a:pPr>
            <a:r>
              <a:t>Expenses ≥ $100 use the Human Interaction pattern.</a:t>
            </a:r>
          </a:p>
          <a:p>
            <a:pPr>
              <a:spcAft>
                <a:spcPts val="800"/>
              </a:spcAft>
              <a:defRPr sz="1800">
                <a:solidFill>
                  <a:srgbClr val="232323"/>
                </a:solidFill>
              </a:defRPr>
            </a:pPr>
            <a:r>
              <a:t>External event represents the manager's Approve / Reject decision.</a:t>
            </a:r>
          </a:p>
          <a:p>
            <a:pPr>
              <a:spcAft>
                <a:spcPts val="800"/>
              </a:spcAft>
              <a:defRPr sz="1800">
                <a:solidFill>
                  <a:srgbClr val="232323"/>
                </a:solidFill>
              </a:defRPr>
            </a:pPr>
            <a:r>
              <a:t>Durable timer races against the external event for timeout escalation.</a:t>
            </a:r>
          </a:p>
          <a:p>
            <a:pPr>
              <a:spcAft>
                <a:spcPts val="800"/>
              </a:spcAft>
              <a:defRPr sz="1800">
                <a:solidFill>
                  <a:srgbClr val="232323"/>
                </a:solidFill>
              </a:defRPr>
            </a:pPr>
            <a:r>
              <a:t>Durable state allows the orchestration to wait without keeping a worker continuously active.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20156" y="1828800"/>
            <a:ext cx="1143000" cy="914400"/>
          </a:xfrm>
          <a:prstGeom prst="roundRect">
            <a:avLst/>
          </a:prstGeom>
          <a:solidFill>
            <a:srgbClr val="EBF3FA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865876" y="2057400"/>
            <a:ext cx="1051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/>
            </a:pPr>
            <a:r>
              <a:t>HTTP Client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002018" y="1828800"/>
            <a:ext cx="1143000" cy="914400"/>
          </a:xfrm>
          <a:prstGeom prst="roundRect">
            <a:avLst/>
          </a:prstGeom>
          <a:solidFill>
            <a:srgbClr val="EBF3FA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047738" y="2057400"/>
            <a:ext cx="1051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/>
            </a:pPr>
            <a:r>
              <a:t>Orchestrator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83879" y="1828800"/>
            <a:ext cx="1143000" cy="914400"/>
          </a:xfrm>
          <a:prstGeom prst="roundRect">
            <a:avLst/>
          </a:prstGeom>
          <a:solidFill>
            <a:srgbClr val="EBF3FA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0" y="2057400"/>
            <a:ext cx="1051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/>
            </a:pPr>
            <a:r>
              <a:t>Activities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65742" y="1828800"/>
            <a:ext cx="1143000" cy="914400"/>
          </a:xfrm>
          <a:prstGeom prst="roundRect">
            <a:avLst/>
          </a:prstGeom>
          <a:solidFill>
            <a:srgbClr val="EBF3FA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411462" y="2057400"/>
            <a:ext cx="1051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/>
            </a:pPr>
            <a:r>
              <a:t>Manager Event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547604" y="1828800"/>
            <a:ext cx="1143000" cy="914400"/>
          </a:xfrm>
          <a:prstGeom prst="roundRect">
            <a:avLst/>
          </a:prstGeom>
          <a:solidFill>
            <a:srgbClr val="EBF3FA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593324" y="2057400"/>
            <a:ext cx="1051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/>
            </a:pPr>
            <a:r>
              <a:t>Email / Result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903720" y="2286000"/>
            <a:ext cx="457200" cy="0"/>
          </a:xfrm>
          <a:prstGeom prst="line">
            <a:avLst/>
          </a:prstGeom>
          <a:ln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092440" y="2286000"/>
            <a:ext cx="457200" cy="0"/>
          </a:xfrm>
          <a:prstGeom prst="line">
            <a:avLst/>
          </a:prstGeom>
          <a:ln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9281160" y="2286000"/>
            <a:ext cx="457200" cy="0"/>
          </a:xfrm>
          <a:prstGeom prst="line">
            <a:avLst/>
          </a:prstGeom>
          <a:ln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0469880" y="2286000"/>
            <a:ext cx="457200" cy="0"/>
          </a:xfrm>
          <a:prstGeom prst="line">
            <a:avLst/>
          </a:prstGeom>
          <a:ln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5806440" y="3337560"/>
            <a:ext cx="5394960" cy="1325880"/>
          </a:xfrm>
          <a:prstGeom prst="roundRect">
            <a:avLst/>
          </a:prstGeom>
          <a:solidFill>
            <a:srgbClr val="EBF3FA"/>
          </a:solidFill>
          <a:ln>
            <a:solidFill>
              <a:srgbClr val="5482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971031" y="3447288"/>
            <a:ext cx="4897303" cy="8002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548235"/>
                </a:solidFill>
              </a:defRPr>
            </a:pPr>
            <a:r>
              <a:rPr dirty="0"/>
              <a:t>Key design decision</a:t>
            </a:r>
          </a:p>
          <a:p>
            <a:pPr>
              <a:defRPr sz="1400">
                <a:solidFill>
                  <a:srgbClr val="232323"/>
                </a:solidFill>
              </a:defRPr>
            </a:pPr>
            <a:r>
              <a:rPr dirty="0"/>
              <a:t>Use </a:t>
            </a:r>
            <a:r>
              <a:rPr dirty="0" err="1"/>
              <a:t>wait_for_external_event</a:t>
            </a:r>
            <a:r>
              <a:rPr dirty="0"/>
              <a:t> + durable timer to model manager </a:t>
            </a:r>
            <a:endParaRPr lang="en-CA" dirty="0"/>
          </a:p>
          <a:p>
            <a:pPr>
              <a:defRPr sz="1400">
                <a:solidFill>
                  <a:srgbClr val="232323"/>
                </a:solidFill>
              </a:defRPr>
            </a:pPr>
            <a:r>
              <a:rPr dirty="0"/>
              <a:t>interaction naturally.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1338560" y="6629400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3. Version A — Demo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6464"/>
                </a:solidFill>
              </a:defRPr>
            </a:pPr>
            <a:r>
              <a:t>Show the Human Interaction pattern, not every test case live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280160"/>
            <a:ext cx="3383280" cy="1463040"/>
          </a:xfrm>
          <a:prstGeom prst="roundRect">
            <a:avLst/>
          </a:prstGeom>
          <a:solidFill>
            <a:srgbClr val="EBF3FA"/>
          </a:solidFill>
          <a:ln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1" y="1389888"/>
            <a:ext cx="2736968" cy="123110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F75B5"/>
                </a:solidFill>
              </a:defRPr>
            </a:pPr>
            <a:r>
              <a:rPr dirty="0"/>
              <a:t>Live Demo A1</a:t>
            </a:r>
          </a:p>
          <a:p>
            <a:pPr>
              <a:defRPr sz="1400">
                <a:solidFill>
                  <a:srgbClr val="232323"/>
                </a:solidFill>
              </a:defRPr>
            </a:pPr>
            <a:r>
              <a:rPr dirty="0"/>
              <a:t>Submit an expense ≥ $100 → </a:t>
            </a:r>
            <a:endParaRPr lang="en-CA" dirty="0"/>
          </a:p>
          <a:p>
            <a:pPr>
              <a:defRPr sz="1400">
                <a:solidFill>
                  <a:srgbClr val="232323"/>
                </a:solidFill>
              </a:defRPr>
            </a:pPr>
            <a:r>
              <a:rPr dirty="0"/>
              <a:t>show orchestration waiting → </a:t>
            </a:r>
            <a:endParaRPr lang="en-CA" dirty="0"/>
          </a:p>
          <a:p>
            <a:pPr>
              <a:defRPr sz="1400">
                <a:solidFill>
                  <a:srgbClr val="232323"/>
                </a:solidFill>
              </a:defRPr>
            </a:pPr>
            <a:r>
              <a:rPr dirty="0"/>
              <a:t>call manager approval endpoint → </a:t>
            </a:r>
            <a:endParaRPr lang="en-CA" dirty="0"/>
          </a:p>
          <a:p>
            <a:pPr>
              <a:defRPr sz="1400">
                <a:solidFill>
                  <a:srgbClr val="232323"/>
                </a:solidFill>
              </a:defRPr>
            </a:pPr>
            <a:r>
              <a:rPr dirty="0"/>
              <a:t>show completion.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280160"/>
            <a:ext cx="3383280" cy="1463040"/>
          </a:xfrm>
          <a:prstGeom prst="roundRect">
            <a:avLst/>
          </a:prstGeom>
          <a:solidFill>
            <a:srgbClr val="EBF3FA"/>
          </a:solidFill>
          <a:ln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53712" y="1389888"/>
            <a:ext cx="2812565" cy="123110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ED7D31"/>
                </a:solidFill>
              </a:defRPr>
            </a:pPr>
            <a:r>
              <a:rPr dirty="0"/>
              <a:t>Live Demo A2</a:t>
            </a:r>
          </a:p>
          <a:p>
            <a:pPr>
              <a:defRPr sz="1400">
                <a:solidFill>
                  <a:srgbClr val="232323"/>
                </a:solidFill>
              </a:defRPr>
            </a:pPr>
            <a:r>
              <a:rPr dirty="0"/>
              <a:t>Show timeout/escalation evidence: </a:t>
            </a:r>
            <a:endParaRPr lang="en-CA" dirty="0"/>
          </a:p>
          <a:p>
            <a:pPr>
              <a:defRPr sz="1400">
                <a:solidFill>
                  <a:srgbClr val="232323"/>
                </a:solidFill>
              </a:defRPr>
            </a:pPr>
            <a:r>
              <a:rPr dirty="0"/>
              <a:t>no manager response → </a:t>
            </a:r>
            <a:endParaRPr lang="en-CA" dirty="0"/>
          </a:p>
          <a:p>
            <a:pPr>
              <a:defRPr sz="1400">
                <a:solidFill>
                  <a:srgbClr val="232323"/>
                </a:solidFill>
              </a:defRPr>
            </a:pPr>
            <a:r>
              <a:rPr dirty="0"/>
              <a:t>timer wins → </a:t>
            </a:r>
            <a:endParaRPr lang="en-CA" dirty="0"/>
          </a:p>
          <a:p>
            <a:pPr>
              <a:defRPr sz="1400">
                <a:solidFill>
                  <a:srgbClr val="232323"/>
                </a:solidFill>
              </a:defRPr>
            </a:pPr>
            <a:r>
              <a:rPr dirty="0"/>
              <a:t>auto-approved with Escalated = Yes.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60" y="1280160"/>
            <a:ext cx="3383280" cy="1463040"/>
          </a:xfrm>
          <a:prstGeom prst="roundRect">
            <a:avLst/>
          </a:prstGeom>
          <a:solidFill>
            <a:srgbClr val="EBF3FA"/>
          </a:solidFill>
          <a:ln>
            <a:solidFill>
              <a:srgbClr val="5482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302752" y="1389888"/>
            <a:ext cx="3006016" cy="8002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548235"/>
                </a:solidFill>
              </a:defRPr>
            </a:pPr>
            <a:r>
              <a:rPr dirty="0"/>
              <a:t>Evidence</a:t>
            </a:r>
          </a:p>
          <a:p>
            <a:pPr>
              <a:defRPr sz="1400">
                <a:solidFill>
                  <a:srgbClr val="232323"/>
                </a:solidFill>
              </a:defRPr>
            </a:pPr>
            <a:r>
              <a:rPr dirty="0"/>
              <a:t>Use test-</a:t>
            </a:r>
            <a:r>
              <a:rPr dirty="0" err="1"/>
              <a:t>durable.http</a:t>
            </a:r>
            <a:r>
              <a:rPr dirty="0"/>
              <a:t> / screenshots </a:t>
            </a:r>
            <a:endParaRPr lang="en-CA" dirty="0"/>
          </a:p>
          <a:p>
            <a:pPr>
              <a:defRPr sz="1400">
                <a:solidFill>
                  <a:srgbClr val="232323"/>
                </a:solidFill>
              </a:defRPr>
            </a:pPr>
            <a:r>
              <a:rPr dirty="0"/>
              <a:t>to show all six scenarios were covered.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246120"/>
            <a:ext cx="105156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232323"/>
                </a:solidFill>
              </a:defRPr>
            </a:pPr>
            <a:r>
              <a:t>Point out the orchestrator, activity functions, client function and manager-response endpoint.</a:t>
            </a:r>
          </a:p>
          <a:p>
            <a:pPr>
              <a:spcAft>
                <a:spcPts val="800"/>
              </a:spcAft>
              <a:defRPr sz="2000">
                <a:solidFill>
                  <a:srgbClr val="232323"/>
                </a:solidFill>
              </a:defRPr>
            </a:pPr>
            <a:r>
              <a:t>Explain why the durable timer is important: the workflow can wait reliably for a long-running human decision.</a:t>
            </a:r>
          </a:p>
          <a:p>
            <a:pPr>
              <a:spcAft>
                <a:spcPts val="800"/>
              </a:spcAft>
              <a:defRPr sz="2000">
                <a:solidFill>
                  <a:srgbClr val="232323"/>
                </a:solidFill>
              </a:defRPr>
            </a:pPr>
            <a:r>
              <a:t>Show final status/output or notification so the audience sees the end-to-end result.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338560" y="6629400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4. Version B — Logic Apps + Service Bus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6464"/>
                </a:solidFill>
              </a:defRPr>
            </a:pPr>
            <a:r>
              <a:t>Visual/declarative orchestration with event-driven messaging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88720"/>
            <a:ext cx="45720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32323"/>
                </a:solidFill>
              </a:defRPr>
            </a:pPr>
            <a:r>
              <a:t>Service Bus queue receives incoming expense requests.</a:t>
            </a:r>
          </a:p>
          <a:p>
            <a:pPr>
              <a:spcAft>
                <a:spcPts val="800"/>
              </a:spcAft>
              <a:defRPr sz="1700">
                <a:solidFill>
                  <a:srgbClr val="232323"/>
                </a:solidFill>
              </a:defRPr>
            </a:pPr>
            <a:r>
              <a:t>Logic App trigger consumes the queue message.</a:t>
            </a:r>
          </a:p>
          <a:p>
            <a:pPr>
              <a:spcAft>
                <a:spcPts val="800"/>
              </a:spcAft>
              <a:defRPr sz="1700">
                <a:solidFill>
                  <a:srgbClr val="232323"/>
                </a:solidFill>
              </a:defRPr>
            </a:pPr>
            <a:r>
              <a:t>Azure Function validates required fields and category.</a:t>
            </a:r>
          </a:p>
          <a:p>
            <a:pPr>
              <a:spcAft>
                <a:spcPts val="800"/>
              </a:spcAft>
              <a:defRPr sz="1700">
                <a:solidFill>
                  <a:srgbClr val="232323"/>
                </a:solidFill>
              </a:defRPr>
            </a:pPr>
            <a:r>
              <a:t>Condition branches handle validation and the $100 threshold.</a:t>
            </a:r>
          </a:p>
          <a:p>
            <a:pPr>
              <a:spcAft>
                <a:spcPts val="800"/>
              </a:spcAft>
              <a:defRPr sz="1700">
                <a:solidFill>
                  <a:srgbClr val="232323"/>
                </a:solidFill>
              </a:defRPr>
            </a:pPr>
            <a:r>
              <a:t>Manager approval uses 'Send email with options' for Approve / Reject.</a:t>
            </a:r>
          </a:p>
          <a:p>
            <a:pPr>
              <a:spcAft>
                <a:spcPts val="800"/>
              </a:spcAft>
              <a:defRPr sz="1700">
                <a:solidFill>
                  <a:srgbClr val="232323"/>
                </a:solidFill>
              </a:defRPr>
            </a:pPr>
            <a:r>
              <a:t>Timeout path auto-approves and marks the request escalated.</a:t>
            </a:r>
          </a:p>
          <a:p>
            <a:pPr>
              <a:spcAft>
                <a:spcPts val="800"/>
              </a:spcAft>
              <a:defRPr sz="1700">
                <a:solidFill>
                  <a:srgbClr val="232323"/>
                </a:solidFill>
              </a:defRPr>
            </a:pPr>
            <a:r>
              <a:t>Outcome messages are routed through a Service Bus topic with approved, rejected and escalated subscriptions.</a:t>
            </a:r>
          </a:p>
          <a:p>
            <a:pPr>
              <a:spcAft>
                <a:spcPts val="800"/>
              </a:spcAft>
              <a:defRPr sz="1700">
                <a:solidFill>
                  <a:srgbClr val="232323"/>
                </a:solidFill>
              </a:defRPr>
            </a:pPr>
            <a:r>
              <a:t>Employee receives the final outcome by email.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0" y="1828800"/>
            <a:ext cx="868680" cy="1051560"/>
          </a:xfrm>
          <a:prstGeom prst="roundRect">
            <a:avLst/>
          </a:prstGeom>
          <a:solidFill>
            <a:srgbClr val="EBF3FA"/>
          </a:solidFill>
          <a:ln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522976" y="2057400"/>
            <a:ext cx="795528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/>
            </a:pPr>
            <a:r>
              <a:t>Queue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355080" y="2350008"/>
            <a:ext cx="155448" cy="0"/>
          </a:xfrm>
          <a:prstGeom prst="line">
            <a:avLst/>
          </a:prstGeom>
          <a:ln>
            <a:solidFill>
              <a:srgbClr val="2F75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6510528" y="1828800"/>
            <a:ext cx="868680" cy="1051560"/>
          </a:xfrm>
          <a:prstGeom prst="roundRect">
            <a:avLst/>
          </a:prstGeom>
          <a:solidFill>
            <a:srgbClr val="EBF3FA"/>
          </a:solidFill>
          <a:ln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47104" y="2057400"/>
            <a:ext cx="795528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/>
            </a:pPr>
            <a:r>
              <a:t>Logic App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379208" y="2350008"/>
            <a:ext cx="155448" cy="0"/>
          </a:xfrm>
          <a:prstGeom prst="line">
            <a:avLst/>
          </a:prstGeom>
          <a:ln>
            <a:solidFill>
              <a:srgbClr val="2F75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7534656" y="1828800"/>
            <a:ext cx="868680" cy="1051560"/>
          </a:xfrm>
          <a:prstGeom prst="roundRect">
            <a:avLst/>
          </a:prstGeom>
          <a:solidFill>
            <a:srgbClr val="EBF3FA"/>
          </a:solidFill>
          <a:ln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571231" y="2057400"/>
            <a:ext cx="795528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/>
            </a:pPr>
            <a:r>
              <a:t>Validation</a:t>
            </a:r>
            <a:br/>
            <a:r>
              <a:t>Function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403336" y="2350008"/>
            <a:ext cx="155448" cy="0"/>
          </a:xfrm>
          <a:prstGeom prst="line">
            <a:avLst/>
          </a:prstGeom>
          <a:ln>
            <a:solidFill>
              <a:srgbClr val="2F75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8558784" y="1828800"/>
            <a:ext cx="868680" cy="1051560"/>
          </a:xfrm>
          <a:prstGeom prst="roundRect">
            <a:avLst/>
          </a:prstGeom>
          <a:solidFill>
            <a:srgbClr val="EBF3FA"/>
          </a:solidFill>
          <a:ln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595359" y="2057400"/>
            <a:ext cx="795528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/>
            </a:pPr>
            <a:r>
              <a:t>Approval /</a:t>
            </a:r>
            <a:br/>
            <a:r>
              <a:t>Timeout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9427463" y="2350008"/>
            <a:ext cx="155449" cy="0"/>
          </a:xfrm>
          <a:prstGeom prst="line">
            <a:avLst/>
          </a:prstGeom>
          <a:ln>
            <a:solidFill>
              <a:srgbClr val="2F75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9582912" y="1828800"/>
            <a:ext cx="868680" cy="1051560"/>
          </a:xfrm>
          <a:prstGeom prst="roundRect">
            <a:avLst/>
          </a:prstGeom>
          <a:solidFill>
            <a:srgbClr val="EBF3FA"/>
          </a:solidFill>
          <a:ln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619488" y="2057400"/>
            <a:ext cx="795528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/>
            </a:pPr>
            <a:r>
              <a:t>Topic +</a:t>
            </a:r>
            <a:br/>
            <a:r>
              <a:t>Filters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0451592" y="2350008"/>
            <a:ext cx="155448" cy="0"/>
          </a:xfrm>
          <a:prstGeom prst="line">
            <a:avLst/>
          </a:prstGeom>
          <a:ln>
            <a:solidFill>
              <a:srgbClr val="2F75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10607040" y="1828800"/>
            <a:ext cx="868680" cy="1051560"/>
          </a:xfrm>
          <a:prstGeom prst="roundRect">
            <a:avLst/>
          </a:prstGeom>
          <a:solidFill>
            <a:srgbClr val="EBF3FA"/>
          </a:solidFill>
          <a:ln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643616" y="2057400"/>
            <a:ext cx="795528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/>
            </a:pPr>
            <a:r>
              <a:t>Employee</a:t>
            </a:r>
            <a:br/>
            <a:r>
              <a:t>Email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0" y="3429000"/>
            <a:ext cx="5852160" cy="1417320"/>
          </a:xfrm>
          <a:prstGeom prst="roundRect">
            <a:avLst/>
          </a:prstGeom>
          <a:solidFill>
            <a:srgbClr val="EBF3FA"/>
          </a:solidFill>
          <a:ln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650992" y="3538728"/>
            <a:ext cx="4434547" cy="10156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ED7D31"/>
                </a:solidFill>
              </a:defRPr>
            </a:pPr>
            <a:r>
              <a:rPr dirty="0"/>
              <a:t>What I experienced</a:t>
            </a:r>
          </a:p>
          <a:p>
            <a:pPr>
              <a:defRPr sz="1400">
                <a:solidFill>
                  <a:srgbClr val="232323"/>
                </a:solidFill>
              </a:defRPr>
            </a:pPr>
            <a:r>
              <a:rPr dirty="0"/>
              <a:t>The visual run history made branch execution easy to see, </a:t>
            </a:r>
            <a:endParaRPr lang="en-CA" dirty="0"/>
          </a:p>
          <a:p>
            <a:pPr>
              <a:defRPr sz="1400">
                <a:solidFill>
                  <a:srgbClr val="232323"/>
                </a:solidFill>
              </a:defRPr>
            </a:pPr>
            <a:r>
              <a:rPr dirty="0"/>
              <a:t>but data-shape problems (Base64/JSON/null values) </a:t>
            </a:r>
            <a:endParaRPr lang="en-CA" dirty="0"/>
          </a:p>
          <a:p>
            <a:pPr>
              <a:defRPr sz="1400">
                <a:solidFill>
                  <a:srgbClr val="232323"/>
                </a:solidFill>
              </a:defRPr>
            </a:pPr>
            <a:r>
              <a:rPr dirty="0"/>
              <a:t>required careful debugging.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1338560" y="6629400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5. Version B — Demo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6464"/>
                </a:solidFill>
              </a:defRPr>
            </a:pPr>
            <a:r>
              <a:t>Use the Azure portal run history plus the received emails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234440"/>
            <a:ext cx="3474720" cy="1508760"/>
          </a:xfrm>
          <a:prstGeom prst="roundRect">
            <a:avLst/>
          </a:prstGeom>
          <a:solidFill>
            <a:srgbClr val="EBF3FA"/>
          </a:solidFill>
          <a:ln>
            <a:solidFill>
              <a:srgbClr val="5482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1" y="1344168"/>
            <a:ext cx="2707088" cy="123110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548235"/>
                </a:solidFill>
              </a:defRPr>
            </a:pPr>
            <a:r>
              <a:rPr dirty="0"/>
              <a:t>Scenario 1</a:t>
            </a:r>
          </a:p>
          <a:p>
            <a:pPr>
              <a:defRPr sz="1400">
                <a:solidFill>
                  <a:srgbClr val="232323"/>
                </a:solidFill>
              </a:defRPr>
            </a:pPr>
            <a:r>
              <a:rPr dirty="0"/>
              <a:t>$50 valid expense → </a:t>
            </a:r>
            <a:endParaRPr lang="en-CA" dirty="0"/>
          </a:p>
          <a:p>
            <a:pPr>
              <a:defRPr sz="1400">
                <a:solidFill>
                  <a:srgbClr val="232323"/>
                </a:solidFill>
              </a:defRPr>
            </a:pPr>
            <a:r>
              <a:rPr dirty="0"/>
              <a:t>validation succeeds → </a:t>
            </a:r>
            <a:endParaRPr lang="en-CA" dirty="0"/>
          </a:p>
          <a:p>
            <a:pPr>
              <a:defRPr sz="1400">
                <a:solidFill>
                  <a:srgbClr val="232323"/>
                </a:solidFill>
              </a:defRPr>
            </a:pPr>
            <a:r>
              <a:rPr dirty="0"/>
              <a:t>auto-approved → </a:t>
            </a:r>
            <a:endParaRPr lang="en-CA" dirty="0"/>
          </a:p>
          <a:p>
            <a:pPr>
              <a:defRPr sz="1400">
                <a:solidFill>
                  <a:srgbClr val="232323"/>
                </a:solidFill>
              </a:defRPr>
            </a:pPr>
            <a:r>
              <a:rPr dirty="0"/>
              <a:t>employee receives approval email.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234440"/>
            <a:ext cx="3474720" cy="1508760"/>
          </a:xfrm>
          <a:prstGeom prst="roundRect">
            <a:avLst/>
          </a:prstGeom>
          <a:solidFill>
            <a:srgbClr val="EBF3FA"/>
          </a:solidFill>
          <a:ln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07992" y="1344168"/>
            <a:ext cx="2959080" cy="123110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F75B5"/>
                </a:solidFill>
              </a:defRPr>
            </a:pPr>
            <a:r>
              <a:rPr dirty="0"/>
              <a:t>Manager decision</a:t>
            </a:r>
          </a:p>
          <a:p>
            <a:pPr>
              <a:defRPr sz="1400">
                <a:solidFill>
                  <a:srgbClr val="232323"/>
                </a:solidFill>
              </a:defRPr>
            </a:pPr>
            <a:r>
              <a:rPr dirty="0"/>
              <a:t>$450 expense → </a:t>
            </a:r>
            <a:endParaRPr lang="en-CA" dirty="0"/>
          </a:p>
          <a:p>
            <a:pPr>
              <a:defRPr sz="1400">
                <a:solidFill>
                  <a:srgbClr val="232323"/>
                </a:solidFill>
              </a:defRPr>
            </a:pPr>
            <a:r>
              <a:rPr dirty="0"/>
              <a:t>approval email → </a:t>
            </a:r>
            <a:endParaRPr lang="en-CA" dirty="0"/>
          </a:p>
          <a:p>
            <a:pPr>
              <a:defRPr sz="1400">
                <a:solidFill>
                  <a:srgbClr val="232323"/>
                </a:solidFill>
              </a:defRPr>
            </a:pPr>
            <a:r>
              <a:rPr dirty="0"/>
              <a:t>manager selects Approve or Reject → </a:t>
            </a:r>
            <a:endParaRPr lang="en-CA" dirty="0"/>
          </a:p>
          <a:p>
            <a:pPr>
              <a:defRPr sz="1400">
                <a:solidFill>
                  <a:srgbClr val="232323"/>
                </a:solidFill>
              </a:defRPr>
            </a:pPr>
            <a:r>
              <a:rPr dirty="0"/>
              <a:t>correct condition branch executes.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234440"/>
            <a:ext cx="3474720" cy="1508760"/>
          </a:xfrm>
          <a:prstGeom prst="roundRect">
            <a:avLst/>
          </a:prstGeom>
          <a:solidFill>
            <a:srgbClr val="EBF3FA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11312" y="1344168"/>
            <a:ext cx="3340017" cy="10156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C00000"/>
                </a:solidFill>
              </a:defRPr>
            </a:pPr>
            <a:r>
              <a:rPr dirty="0"/>
              <a:t>Scenarios 5 &amp; 6</a:t>
            </a:r>
          </a:p>
          <a:p>
            <a:pPr>
              <a:defRPr sz="1400">
                <a:solidFill>
                  <a:srgbClr val="232323"/>
                </a:solidFill>
              </a:defRPr>
            </a:pPr>
            <a:r>
              <a:rPr dirty="0"/>
              <a:t>Missing description / invalid category → </a:t>
            </a:r>
            <a:endParaRPr lang="en-CA" dirty="0"/>
          </a:p>
          <a:p>
            <a:pPr>
              <a:defRPr sz="1400">
                <a:solidFill>
                  <a:srgbClr val="232323"/>
                </a:solidFill>
              </a:defRPr>
            </a:pPr>
            <a:r>
              <a:rPr dirty="0"/>
              <a:t>validation fails → </a:t>
            </a:r>
            <a:endParaRPr lang="en-CA" dirty="0"/>
          </a:p>
          <a:p>
            <a:pPr>
              <a:defRPr sz="1400">
                <a:solidFill>
                  <a:srgbClr val="232323"/>
                </a:solidFill>
              </a:defRPr>
            </a:pPr>
            <a:r>
              <a:rPr dirty="0"/>
              <a:t>employee receives a Validation error email.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246120"/>
            <a:ext cx="104241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32323"/>
                </a:solidFill>
              </a:defRPr>
            </a:pPr>
            <a:r>
              <a:t>Show a successful Logic App run with green check marks through the executed branch.</a:t>
            </a:r>
          </a:p>
          <a:p>
            <a:pPr>
              <a:spcAft>
                <a:spcPts val="800"/>
              </a:spcAft>
              <a:defRPr sz="1800">
                <a:solidFill>
                  <a:srgbClr val="232323"/>
                </a:solidFill>
              </a:defRPr>
            </a:pPr>
            <a:r>
              <a:t>Show the approval/rejection email and the final employee notification.</a:t>
            </a:r>
          </a:p>
          <a:p>
            <a:pPr>
              <a:spcAft>
                <a:spcPts val="800"/>
              </a:spcAft>
              <a:defRPr sz="1800">
                <a:solidFill>
                  <a:srgbClr val="232323"/>
                </a:solidFill>
              </a:defRPr>
            </a:pPr>
            <a:r>
              <a:t>Show topic subscription counts or Service Bus evidence for approved, rejected and escalated outcomes.</a:t>
            </a:r>
          </a:p>
          <a:p>
            <a:pPr>
              <a:spcAft>
                <a:spcPts val="800"/>
              </a:spcAft>
              <a:defRPr sz="1800">
                <a:solidFill>
                  <a:srgbClr val="232323"/>
                </a:solidFill>
              </a:defRPr>
            </a:pPr>
            <a:r>
              <a:t>Briefly mention that early failures helped reveal JSON decoding and null-field issues in the visual workflow.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338560" y="6629400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6. Comparison — Six Required Dimensions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6464"/>
                </a:solidFill>
              </a:defRPr>
            </a:pPr>
            <a:r>
              <a:t>Direct comparison based on implementation experience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234440"/>
            <a:ext cx="1828800" cy="566928"/>
          </a:xfrm>
          <a:prstGeom prst="rect">
            <a:avLst/>
          </a:prstGeom>
          <a:solidFill>
            <a:srgbClr val="1F4E7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84632" y="1325880"/>
            <a:ext cx="1682496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Dimension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2240280" y="1234440"/>
            <a:ext cx="4434840" cy="566928"/>
          </a:xfrm>
          <a:prstGeom prst="rect">
            <a:avLst/>
          </a:prstGeom>
          <a:solidFill>
            <a:srgbClr val="1F4E7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313432" y="1325880"/>
            <a:ext cx="4288536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Durable Functions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6675120" y="1234440"/>
            <a:ext cx="5074920" cy="566928"/>
          </a:xfrm>
          <a:prstGeom prst="rect">
            <a:avLst/>
          </a:prstGeom>
          <a:solidFill>
            <a:srgbClr val="1F4E7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748272" y="1325880"/>
            <a:ext cx="4928616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Logic Apps + Service Bus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1801368"/>
            <a:ext cx="1828800" cy="713232"/>
          </a:xfrm>
          <a:prstGeom prst="rect">
            <a:avLst/>
          </a:prstGeom>
          <a:solidFill>
            <a:srgbClr val="FFFFFF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84632" y="1874520"/>
            <a:ext cx="1682496" cy="6035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232323"/>
                </a:solidFill>
              </a:defRPr>
            </a:pPr>
            <a:r>
              <a:t>Development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40280" y="1801368"/>
            <a:ext cx="4434840" cy="713232"/>
          </a:xfrm>
          <a:prstGeom prst="rect">
            <a:avLst/>
          </a:prstGeom>
          <a:solidFill>
            <a:srgbClr val="FFFFFF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313432" y="1874520"/>
            <a:ext cx="4288536" cy="6035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0">
                <a:solidFill>
                  <a:srgbClr val="232323"/>
                </a:solidFill>
              </a:defRPr>
            </a:pPr>
            <a:r>
              <a:t>More code to write; precise control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675120" y="1801368"/>
            <a:ext cx="5074920" cy="713232"/>
          </a:xfrm>
          <a:prstGeom prst="rect">
            <a:avLst/>
          </a:prstGeom>
          <a:solidFill>
            <a:srgbClr val="FFFFFF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748272" y="1874520"/>
            <a:ext cx="4928616" cy="6035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0">
                <a:solidFill>
                  <a:srgbClr val="232323"/>
                </a:solidFill>
              </a:defRPr>
            </a:pPr>
            <a:r>
              <a:t>Fast visual assembly; connector setup adds complexity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2514600"/>
            <a:ext cx="1828800" cy="713232"/>
          </a:xfrm>
          <a:prstGeom prst="rect">
            <a:avLst/>
          </a:prstGeom>
          <a:solidFill>
            <a:srgbClr val="EBF3FA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84632" y="2587752"/>
            <a:ext cx="1682496" cy="6035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232323"/>
                </a:solidFill>
              </a:defRPr>
            </a:pPr>
            <a:r>
              <a:t>Testability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40280" y="2514600"/>
            <a:ext cx="4434840" cy="713232"/>
          </a:xfrm>
          <a:prstGeom prst="rect">
            <a:avLst/>
          </a:prstGeom>
          <a:solidFill>
            <a:srgbClr val="EBF3FA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313432" y="2587752"/>
            <a:ext cx="4288536" cy="6035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0">
                <a:solidFill>
                  <a:srgbClr val="232323"/>
                </a:solidFill>
              </a:defRPr>
            </a:pPr>
            <a:r>
              <a:t>Strong local testing with .http and code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675120" y="2514600"/>
            <a:ext cx="5074920" cy="713232"/>
          </a:xfrm>
          <a:prstGeom prst="rect">
            <a:avLst/>
          </a:prstGeom>
          <a:solidFill>
            <a:srgbClr val="EBF3FA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748272" y="2587752"/>
            <a:ext cx="4928616" cy="6035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0">
                <a:solidFill>
                  <a:srgbClr val="232323"/>
                </a:solidFill>
              </a:defRPr>
            </a:pPr>
            <a:r>
              <a:t>More dependent on deployed connectors/services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1480" y="3227832"/>
            <a:ext cx="1828800" cy="713232"/>
          </a:xfrm>
          <a:prstGeom prst="rect">
            <a:avLst/>
          </a:prstGeom>
          <a:solidFill>
            <a:srgbClr val="FFFFFF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84632" y="3300984"/>
            <a:ext cx="1682496" cy="6035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232323"/>
                </a:solidFill>
              </a:defRPr>
            </a:pPr>
            <a:r>
              <a:t>Error handling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240280" y="3227832"/>
            <a:ext cx="4434840" cy="713232"/>
          </a:xfrm>
          <a:prstGeom prst="rect">
            <a:avLst/>
          </a:prstGeom>
          <a:solidFill>
            <a:srgbClr val="FFFFFF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313432" y="3300984"/>
            <a:ext cx="4288536" cy="6035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0">
                <a:solidFill>
                  <a:srgbClr val="232323"/>
                </a:solidFill>
              </a:defRPr>
            </a:pPr>
            <a:r>
              <a:t>Fine-grained retries/exceptions in code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675120" y="3227832"/>
            <a:ext cx="5074920" cy="713232"/>
          </a:xfrm>
          <a:prstGeom prst="rect">
            <a:avLst/>
          </a:prstGeom>
          <a:solidFill>
            <a:srgbClr val="FFFFFF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748272" y="3300984"/>
            <a:ext cx="4928616" cy="6035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0">
                <a:solidFill>
                  <a:srgbClr val="232323"/>
                </a:solidFill>
              </a:defRPr>
            </a:pPr>
            <a:r>
              <a:t>Built-in action status/retry configuration; visual failures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11480" y="3941064"/>
            <a:ext cx="1828800" cy="713232"/>
          </a:xfrm>
          <a:prstGeom prst="rect">
            <a:avLst/>
          </a:prstGeom>
          <a:solidFill>
            <a:srgbClr val="EBF3FA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84632" y="4014216"/>
            <a:ext cx="1682496" cy="6035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232323"/>
                </a:solidFill>
              </a:defRPr>
            </a:pPr>
            <a:r>
              <a:t>Human interaction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240280" y="3941064"/>
            <a:ext cx="4434840" cy="713232"/>
          </a:xfrm>
          <a:prstGeom prst="rect">
            <a:avLst/>
          </a:prstGeom>
          <a:solidFill>
            <a:srgbClr val="EBF3FA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2313432" y="4014216"/>
            <a:ext cx="4288536" cy="6035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0">
                <a:solidFill>
                  <a:srgbClr val="232323"/>
                </a:solidFill>
              </a:defRPr>
            </a:pPr>
            <a:r>
              <a:t>Natural: external event + durable timer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675120" y="3941064"/>
            <a:ext cx="5074920" cy="713232"/>
          </a:xfrm>
          <a:prstGeom prst="rect">
            <a:avLst/>
          </a:prstGeom>
          <a:solidFill>
            <a:srgbClr val="EBF3FA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748272" y="4014216"/>
            <a:ext cx="4928616" cy="6035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0">
                <a:solidFill>
                  <a:srgbClr val="232323"/>
                </a:solidFill>
              </a:defRPr>
            </a:pPr>
            <a:r>
              <a:t>Possible with email options + timeout, but less native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11480" y="4654296"/>
            <a:ext cx="1828800" cy="713232"/>
          </a:xfrm>
          <a:prstGeom prst="rect">
            <a:avLst/>
          </a:prstGeom>
          <a:solidFill>
            <a:srgbClr val="FFFFFF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84632" y="4727448"/>
            <a:ext cx="1682496" cy="6035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232323"/>
                </a:solidFill>
              </a:defRPr>
            </a:pPr>
            <a:r>
              <a:t>Observability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240280" y="4654296"/>
            <a:ext cx="4434840" cy="713232"/>
          </a:xfrm>
          <a:prstGeom prst="rect">
            <a:avLst/>
          </a:prstGeom>
          <a:solidFill>
            <a:srgbClr val="FFFFFF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2313432" y="4727448"/>
            <a:ext cx="4288536" cy="6035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0">
                <a:solidFill>
                  <a:srgbClr val="232323"/>
                </a:solidFill>
              </a:defRPr>
            </a:pPr>
            <a:r>
              <a:t>Logs/status endpoints; code-oriented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675120" y="4654296"/>
            <a:ext cx="5074920" cy="713232"/>
          </a:xfrm>
          <a:prstGeom prst="rect">
            <a:avLst/>
          </a:prstGeom>
          <a:solidFill>
            <a:srgbClr val="FFFFFF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748272" y="4727448"/>
            <a:ext cx="4928616" cy="6035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0">
                <a:solidFill>
                  <a:srgbClr val="232323"/>
                </a:solidFill>
              </a:defRPr>
            </a:pPr>
            <a:r>
              <a:t>Excellent visual run history and per-action I/O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11480" y="5367528"/>
            <a:ext cx="1828800" cy="713232"/>
          </a:xfrm>
          <a:prstGeom prst="rect">
            <a:avLst/>
          </a:prstGeom>
          <a:solidFill>
            <a:srgbClr val="EBF3FA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484632" y="5440680"/>
            <a:ext cx="1682496" cy="6035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232323"/>
                </a:solidFill>
              </a:defRPr>
            </a:pPr>
            <a:r>
              <a:rPr dirty="0"/>
              <a:t>Cost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240280" y="5367528"/>
            <a:ext cx="4434840" cy="713232"/>
          </a:xfrm>
          <a:prstGeom prst="rect">
            <a:avLst/>
          </a:prstGeom>
          <a:solidFill>
            <a:srgbClr val="EBF3FA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2313432" y="5440680"/>
            <a:ext cx="4288536" cy="6035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0">
                <a:solidFill>
                  <a:srgbClr val="232323"/>
                </a:solidFill>
              </a:defRPr>
            </a:pPr>
            <a:r>
              <a:t>Consumption-based Functions + storage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675120" y="5367528"/>
            <a:ext cx="5074920" cy="713232"/>
          </a:xfrm>
          <a:prstGeom prst="rect">
            <a:avLst/>
          </a:prstGeom>
          <a:solidFill>
            <a:srgbClr val="EBF3FA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748272" y="5440680"/>
            <a:ext cx="4928616" cy="6035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0">
                <a:solidFill>
                  <a:srgbClr val="232323"/>
                </a:solidFill>
              </a:defRPr>
            </a:pPr>
            <a:r>
              <a:t>Per-action/connector costs + Service Bus + validation Function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11338560" y="6629400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7. Cost — Compare the Scaling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6464"/>
                </a:solidFill>
              </a:defRPr>
            </a:pPr>
            <a:r>
              <a:t>Final dollar estimates should use the Azure Pricing Calculator and stated assumptions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234440"/>
            <a:ext cx="5212080" cy="1874519"/>
          </a:xfrm>
          <a:prstGeom prst="roundRect">
            <a:avLst/>
          </a:prstGeom>
          <a:solidFill>
            <a:srgbClr val="EBF3FA"/>
          </a:solidFill>
          <a:ln>
            <a:solidFill>
              <a:srgbClr val="5482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58952" y="1344168"/>
            <a:ext cx="4100931" cy="123110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548235"/>
                </a:solidFill>
              </a:defRPr>
            </a:pPr>
            <a:r>
              <a:rPr dirty="0"/>
              <a:t>~100 expenses/day</a:t>
            </a:r>
          </a:p>
          <a:p>
            <a:pPr>
              <a:defRPr sz="1400">
                <a:solidFill>
                  <a:srgbClr val="232323"/>
                </a:solidFill>
              </a:defRPr>
            </a:pPr>
            <a:r>
              <a:rPr dirty="0"/>
              <a:t>Low volume. Both consumption-oriented approaches </a:t>
            </a:r>
            <a:endParaRPr lang="en-CA" dirty="0"/>
          </a:p>
          <a:p>
            <a:pPr>
              <a:defRPr sz="1400">
                <a:solidFill>
                  <a:srgbClr val="232323"/>
                </a:solidFill>
              </a:defRPr>
            </a:pPr>
            <a:r>
              <a:rPr dirty="0"/>
              <a:t>are inexpensive; </a:t>
            </a:r>
            <a:endParaRPr lang="en-CA" dirty="0"/>
          </a:p>
          <a:p>
            <a:pPr>
              <a:defRPr sz="1400">
                <a:solidFill>
                  <a:srgbClr val="232323"/>
                </a:solidFill>
              </a:defRPr>
            </a:pPr>
            <a:r>
              <a:rPr dirty="0"/>
              <a:t>free grants/minimum service charges </a:t>
            </a:r>
            <a:endParaRPr lang="en-CA" dirty="0"/>
          </a:p>
          <a:p>
            <a:pPr>
              <a:defRPr sz="1400">
                <a:solidFill>
                  <a:srgbClr val="232323"/>
                </a:solidFill>
              </a:defRPr>
            </a:pPr>
            <a:r>
              <a:rPr dirty="0"/>
              <a:t>and connector usage can dominate the estimate.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55080" y="1234440"/>
            <a:ext cx="5212080" cy="1874519"/>
          </a:xfrm>
          <a:prstGeom prst="roundRect">
            <a:avLst/>
          </a:prstGeom>
          <a:solidFill>
            <a:srgbClr val="EBF3FA"/>
          </a:solidFill>
          <a:ln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19672" y="1344168"/>
            <a:ext cx="4848571" cy="10156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ED7D31"/>
                </a:solidFill>
              </a:defRPr>
            </a:pPr>
            <a:r>
              <a:rPr dirty="0"/>
              <a:t>~10,000 expenses/day</a:t>
            </a:r>
          </a:p>
          <a:p>
            <a:pPr>
              <a:defRPr sz="1400">
                <a:solidFill>
                  <a:srgbClr val="232323"/>
                </a:solidFill>
              </a:defRPr>
            </a:pPr>
            <a:r>
              <a:rPr dirty="0"/>
              <a:t>Action count, Service Bus operations, </a:t>
            </a:r>
            <a:endParaRPr lang="en-CA" dirty="0"/>
          </a:p>
          <a:p>
            <a:pPr>
              <a:defRPr sz="1400">
                <a:solidFill>
                  <a:srgbClr val="232323"/>
                </a:solidFill>
              </a:defRPr>
            </a:pPr>
            <a:r>
              <a:rPr dirty="0"/>
              <a:t>Function executions, storage transactions, </a:t>
            </a:r>
            <a:endParaRPr lang="en-CA" dirty="0"/>
          </a:p>
          <a:p>
            <a:pPr>
              <a:defRPr sz="1400">
                <a:solidFill>
                  <a:srgbClr val="232323"/>
                </a:solidFill>
              </a:defRPr>
            </a:pPr>
            <a:r>
              <a:rPr dirty="0"/>
              <a:t>email/connector calls and approval duration become important.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657600"/>
            <a:ext cx="104241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32323"/>
                </a:solidFill>
              </a:defRPr>
            </a:pPr>
            <a:r>
              <a:rPr dirty="0"/>
              <a:t>State assumptions: average actions per expense, percentage requiring manager approval, timeout percentage, Function execution duration/memory, and Service Bus tier.</a:t>
            </a:r>
          </a:p>
          <a:p>
            <a:pPr>
              <a:spcAft>
                <a:spcPts val="800"/>
              </a:spcAft>
              <a:defRPr sz="1700">
                <a:solidFill>
                  <a:srgbClr val="232323"/>
                </a:solidFill>
              </a:defRPr>
            </a:pPr>
            <a:r>
              <a:rPr dirty="0"/>
              <a:t>Durable Functions: include Functions consumption plus Durable storage transactions.</a:t>
            </a:r>
          </a:p>
          <a:p>
            <a:pPr>
              <a:spcAft>
                <a:spcPts val="800"/>
              </a:spcAft>
              <a:defRPr sz="1700">
                <a:solidFill>
                  <a:srgbClr val="232323"/>
                </a:solidFill>
              </a:defRPr>
            </a:pPr>
            <a:r>
              <a:rPr dirty="0"/>
              <a:t>Logic Apps: include trigger/action executions, Service Bus operations, validation Function, and any connector-related charges.</a:t>
            </a:r>
          </a:p>
          <a:p>
            <a:pPr>
              <a:spcAft>
                <a:spcPts val="800"/>
              </a:spcAft>
              <a:defRPr sz="1700">
                <a:solidFill>
                  <a:srgbClr val="232323"/>
                </a:solidFill>
              </a:defRPr>
            </a:pPr>
            <a:r>
              <a:rPr dirty="0"/>
              <a:t>Do not claim one is always cheaper—the workflow shape and action count determine the result.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338560" y="6629400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8. Recommendation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6464"/>
                </a:solidFill>
              </a:defRPr>
            </a:pPr>
            <a:r>
              <a:t>Choose based on workflow complexity, team skills and operational needs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234440"/>
            <a:ext cx="5303520" cy="1965960"/>
          </a:xfrm>
          <a:prstGeom prst="roundRect">
            <a:avLst/>
          </a:prstGeom>
          <a:solidFill>
            <a:srgbClr val="EBF3FA"/>
          </a:solidFill>
          <a:ln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1" y="1344168"/>
            <a:ext cx="4616777" cy="166199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F75B5"/>
                </a:solidFill>
              </a:defRPr>
            </a:pPr>
            <a:r>
              <a:rPr dirty="0"/>
              <a:t>Primary recommendation: Durable Functions</a:t>
            </a:r>
          </a:p>
          <a:p>
            <a:pPr>
              <a:defRPr sz="1400">
                <a:solidFill>
                  <a:srgbClr val="232323"/>
                </a:solidFill>
              </a:defRPr>
            </a:pPr>
            <a:r>
              <a:rPr dirty="0"/>
              <a:t>For a production workflow with complex state, </a:t>
            </a:r>
            <a:endParaRPr lang="en-CA" dirty="0"/>
          </a:p>
          <a:p>
            <a:pPr>
              <a:defRPr sz="1400">
                <a:solidFill>
                  <a:srgbClr val="232323"/>
                </a:solidFill>
              </a:defRPr>
            </a:pPr>
            <a:r>
              <a:rPr dirty="0"/>
              <a:t>custom business rules, automated testing and </a:t>
            </a:r>
            <a:endParaRPr lang="en-CA" dirty="0"/>
          </a:p>
          <a:p>
            <a:pPr>
              <a:defRPr sz="1400">
                <a:solidFill>
                  <a:srgbClr val="232323"/>
                </a:solidFill>
              </a:defRPr>
            </a:pPr>
            <a:r>
              <a:rPr dirty="0"/>
              <a:t>long-running human interaction, </a:t>
            </a:r>
            <a:endParaRPr lang="en-CA" dirty="0"/>
          </a:p>
          <a:p>
            <a:pPr>
              <a:defRPr sz="1400">
                <a:solidFill>
                  <a:srgbClr val="232323"/>
                </a:solidFill>
              </a:defRPr>
            </a:pPr>
            <a:r>
              <a:rPr dirty="0"/>
              <a:t>I would favor Durable Functions </a:t>
            </a:r>
            <a:endParaRPr lang="en-CA" dirty="0"/>
          </a:p>
          <a:p>
            <a:pPr>
              <a:defRPr sz="1400">
                <a:solidFill>
                  <a:srgbClr val="232323"/>
                </a:solidFill>
              </a:defRPr>
            </a:pPr>
            <a:r>
              <a:rPr dirty="0"/>
              <a:t>because the external-event + durable-timer model is explicit </a:t>
            </a:r>
            <a:endParaRPr lang="en-CA" dirty="0"/>
          </a:p>
          <a:p>
            <a:pPr>
              <a:defRPr sz="1400">
                <a:solidFill>
                  <a:srgbClr val="232323"/>
                </a:solidFill>
              </a:defRPr>
            </a:pPr>
            <a:r>
              <a:rPr dirty="0"/>
              <a:t>and code is easier to version and test.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1234440"/>
            <a:ext cx="5303520" cy="1965960"/>
          </a:xfrm>
          <a:prstGeom prst="roundRect">
            <a:avLst/>
          </a:prstGeom>
          <a:solidFill>
            <a:srgbClr val="EBF3FA"/>
          </a:solidFill>
          <a:ln>
            <a:solidFill>
              <a:srgbClr val="5482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28231" y="1344168"/>
            <a:ext cx="5076261" cy="14465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548235"/>
                </a:solidFill>
              </a:defRPr>
            </a:pPr>
            <a:r>
              <a:rPr dirty="0"/>
              <a:t>When I would choose Logic Apps</a:t>
            </a:r>
          </a:p>
          <a:p>
            <a:pPr>
              <a:defRPr sz="1400">
                <a:solidFill>
                  <a:srgbClr val="232323"/>
                </a:solidFill>
              </a:defRPr>
            </a:pPr>
            <a:r>
              <a:rPr dirty="0"/>
              <a:t>For integration-heavy workflows where visibility, </a:t>
            </a:r>
            <a:endParaRPr lang="en-CA" dirty="0"/>
          </a:p>
          <a:p>
            <a:pPr>
              <a:defRPr sz="1400">
                <a:solidFill>
                  <a:srgbClr val="232323"/>
                </a:solidFill>
              </a:defRPr>
            </a:pPr>
            <a:r>
              <a:rPr dirty="0"/>
              <a:t>rapid visual development and managed connectors </a:t>
            </a:r>
            <a:endParaRPr lang="en-CA" dirty="0"/>
          </a:p>
          <a:p>
            <a:pPr>
              <a:defRPr sz="1400">
                <a:solidFill>
                  <a:srgbClr val="232323"/>
                </a:solidFill>
              </a:defRPr>
            </a:pPr>
            <a:r>
              <a:rPr dirty="0"/>
              <a:t>are more important than code-level control, </a:t>
            </a:r>
            <a:endParaRPr lang="en-CA" dirty="0"/>
          </a:p>
          <a:p>
            <a:pPr>
              <a:defRPr sz="1400">
                <a:solidFill>
                  <a:srgbClr val="232323"/>
                </a:solidFill>
              </a:defRPr>
            </a:pPr>
            <a:r>
              <a:rPr dirty="0"/>
              <a:t>Logic Apps is attractive—especially for teams that need operations </a:t>
            </a:r>
            <a:endParaRPr lang="en-CA" dirty="0"/>
          </a:p>
          <a:p>
            <a:pPr>
              <a:defRPr sz="1400">
                <a:solidFill>
                  <a:srgbClr val="232323"/>
                </a:solidFill>
              </a:defRPr>
            </a:pPr>
            <a:r>
              <a:rPr dirty="0"/>
              <a:t>staff to understand the workflow visually.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886200"/>
            <a:ext cx="1042416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232323"/>
                </a:solidFill>
              </a:defRPr>
            </a:pPr>
            <a:r>
              <a:t>The decision is not 'code good, visual bad.' Each approach optimizes a different development and operations experience.</a:t>
            </a:r>
          </a:p>
          <a:p>
            <a:pPr>
              <a:spcAft>
                <a:spcPts val="800"/>
              </a:spcAft>
              <a:defRPr sz="1900">
                <a:solidFill>
                  <a:srgbClr val="232323"/>
                </a:solidFill>
              </a:defRPr>
            </a:pPr>
            <a:r>
              <a:t>My implementation showed that the Human Interaction pattern was more natural in Durable Functions, while troubleshooting branches was more immediately visible in Logic Apps.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338560" y="6629400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9. Lessons Learned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6464"/>
                </a:solidFill>
              </a:defRPr>
            </a:pPr>
            <a:r>
              <a:t>What changed after implementing the same workflow twice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232323"/>
                </a:solidFill>
              </a:defRPr>
            </a:pPr>
            <a:r>
              <a:t>Implementing the same business rules twice made the orchestration trade-offs much clearer than studying the services separately.</a:t>
            </a:r>
          </a:p>
          <a:p>
            <a:pPr>
              <a:spcAft>
                <a:spcPts val="800"/>
              </a:spcAft>
              <a:defRPr sz="1900">
                <a:solidFill>
                  <a:srgbClr val="232323"/>
                </a:solidFill>
              </a:defRPr>
            </a:pPr>
            <a:r>
              <a:t>Durable Functions hides much of the complexity of waiting: the orchestration can pause for a human event and resume later.</a:t>
            </a:r>
          </a:p>
          <a:p>
            <a:pPr>
              <a:spcAft>
                <a:spcPts val="800"/>
              </a:spcAft>
              <a:defRPr sz="1900">
                <a:solidFill>
                  <a:srgbClr val="232323"/>
                </a:solidFill>
              </a:defRPr>
            </a:pPr>
            <a:r>
              <a:t>Logic Apps made execution paths highly visible, but message encoding, JSON conversion and null values can break downstream actions if the data contract is not consistent.</a:t>
            </a:r>
          </a:p>
          <a:p>
            <a:pPr>
              <a:spcAft>
                <a:spcPts val="800"/>
              </a:spcAft>
              <a:defRPr sz="1900">
                <a:solidFill>
                  <a:srgbClr val="232323"/>
                </a:solidFill>
              </a:defRPr>
            </a:pPr>
            <a:r>
              <a:t>Service Bus decouples producers from the workflow and makes outcome routing extensible through filtered topic subscriptions.</a:t>
            </a:r>
          </a:p>
          <a:p>
            <a:pPr>
              <a:spcAft>
                <a:spcPts val="800"/>
              </a:spcAft>
              <a:defRPr sz="1900">
                <a:solidFill>
                  <a:srgbClr val="232323"/>
                </a:solidFill>
              </a:defRPr>
            </a:pPr>
            <a:r>
              <a:t>Next time, I would define and test the expense JSON schema first, automate more tests, and standardize action names before building the full workflow.</a:t>
            </a:r>
          </a:p>
          <a:p>
            <a:pPr>
              <a:spcAft>
                <a:spcPts val="800"/>
              </a:spcAft>
              <a:defRPr sz="1900">
                <a:solidFill>
                  <a:srgbClr val="232323"/>
                </a:solidFill>
              </a:defRPr>
            </a:pPr>
            <a:r>
              <a:t>The best architecture depends on maintainability, testing, integration needs, observability and cost—not only which implementation is faster to build.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338560" y="6629400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68</TotalTime>
  <Words>1188</Words>
  <Application>Microsoft Office PowerPoint</Application>
  <PresentationFormat>Widescreen</PresentationFormat>
  <Paragraphs>167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systemadmin</dc:creator>
  <cp:keywords/>
  <dc:description>generated using python-pptx</dc:description>
  <cp:lastModifiedBy>Hesheng Yang</cp:lastModifiedBy>
  <cp:revision>5</cp:revision>
  <dcterms:created xsi:type="dcterms:W3CDTF">2013-01-27T09:14:16Z</dcterms:created>
  <dcterms:modified xsi:type="dcterms:W3CDTF">2026-08-16T15:08:33Z</dcterms:modified>
  <cp:category/>
</cp:coreProperties>
</file>